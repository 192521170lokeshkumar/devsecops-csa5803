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66" r:id="rId6"/>
    <p:sldId id="268" r:id="rId7"/>
    <p:sldId id="269" r:id="rId8"/>
    <p:sldId id="273" r:id="rId9"/>
    <p:sldId id="274" r:id="rId10"/>
    <p:sldId id="275" r:id="rId11"/>
    <p:sldId id="276" r:id="rId12"/>
    <p:sldId id="259" r:id="rId13"/>
    <p:sldId id="260" r:id="rId14"/>
    <p:sldId id="263" r:id="rId15"/>
    <p:sldId id="264" r:id="rId16"/>
    <p:sldId id="270" r:id="rId17"/>
    <p:sldId id="272"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C572D7-71AE-4660-9233-65E7F625514D}" v="8" dt="2026-08-11T08:03:39.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11-08-2026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11-08-2026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i="0" cap="all" dirty="0">
                <a:solidFill>
                  <a:schemeClr val="accent5">
                    <a:lumMod val="50000"/>
                  </a:schemeClr>
                </a:solidFill>
                <a:effectLst/>
                <a:latin typeface="Cambria" panose="02040503050406030204" pitchFamily="18" charset="0"/>
                <a:ea typeface="Cambria" panose="02040503050406030204" pitchFamily="18" charset="0"/>
              </a:rPr>
              <a:t>CSA5801 - DEVSECOPS ENGINEERING AND APPLICATION SECURITY</a:t>
            </a: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6705602" y="4887801"/>
            <a:ext cx="5486399" cy="2323713"/>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endParaRPr lang="en-US" sz="2000" b="1" i="1" dirty="0">
              <a:solidFill>
                <a:srgbClr val="C00000"/>
              </a:solidFill>
              <a:latin typeface="Cambria" panose="02040503050406030204" pitchFamily="18" charset="0"/>
              <a:ea typeface="Cambria" panose="02040503050406030204" pitchFamily="18" charset="0"/>
              <a:cs typeface="Times New Roman" pitchFamily="18" charset="0"/>
            </a:endParaRP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192465006–V GIRI PRASATH</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192421004 – A AUSTIN</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192521170 – V LOKEH KUMAR</a:t>
            </a:r>
            <a:endParaRPr lang="en-US" sz="2000" b="1" dirty="0">
              <a:solidFill>
                <a:srgbClr val="002060"/>
              </a:solidFill>
              <a:latin typeface="Cambria" panose="02040503050406030204" pitchFamily="18" charset="0"/>
              <a:ea typeface="Cambria" panose="02040503050406030204" pitchFamily="18" charset="0"/>
              <a:cs typeface="Times New Roman" pitchFamily="18" charset="0"/>
            </a:endParaRP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192565015 – B THARUNKUMAR REDDY</a:t>
            </a:r>
          </a:p>
          <a:p>
            <a:pPr lvl="1">
              <a:spcBef>
                <a:spcPts val="550"/>
              </a:spcBef>
              <a:buClr>
                <a:srgbClr val="4F81BD"/>
              </a:buClr>
              <a:buSzPct val="70000"/>
            </a:pP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R. </a:t>
            </a:r>
            <a:r>
              <a:rPr lang="en-US" sz="2000" i="1" dirty="0" err="1">
                <a:solidFill>
                  <a:srgbClr val="0070C0"/>
                </a:solidFill>
                <a:latin typeface="Cambria" panose="02040503050406030204" pitchFamily="18" charset="0"/>
                <a:ea typeface="Cambria" panose="02040503050406030204" pitchFamily="18" charset="0"/>
                <a:cs typeface="Times New Roman" pitchFamily="18" charset="0"/>
              </a:rPr>
              <a:t>Pitchandi</a:t>
            </a:r>
            <a:endParaRPr lang="en-US" sz="2000" i="1" dirty="0">
              <a:solidFill>
                <a:srgbClr val="0070C0"/>
              </a:solidFill>
              <a:latin typeface="Cambria" panose="02040503050406030204" pitchFamily="18" charset="0"/>
              <a:ea typeface="Cambria" panose="02040503050406030204" pitchFamily="18" charset="0"/>
              <a:cs typeface="Times New Roman" pitchFamily="18" charset="0"/>
            </a:endParaRP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Applied Machine Learning</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F475A28-D0EF-4392-9E36-9849C6E918CD}"/>
              </a:ext>
            </a:extLst>
          </p:cNvPr>
          <p:cNvSpPr txBox="1"/>
          <p:nvPr/>
        </p:nvSpPr>
        <p:spPr>
          <a:xfrm>
            <a:off x="2085474" y="2091062"/>
            <a:ext cx="8021052"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 SECURE STUDENT INFORMATION MANAGEMENT SYSTEM WITH ROLE-BASED ACCESS CONTROL</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751840" y="1445965"/>
            <a:ext cx="10485120" cy="3693319"/>
          </a:xfrm>
          <a:prstGeom prst="rect">
            <a:avLst/>
          </a:prstGeom>
          <a:noFill/>
        </p:spPr>
        <p:txBody>
          <a:bodyPr wrap="square">
            <a:spAutoFit/>
          </a:bodyPr>
          <a:lstStyle/>
          <a:p>
            <a:pPr algn="just">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algn="just">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algn="just">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algn="just">
              <a:buNone/>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Secure Student Information Management System with Role-Based Access Control (RBAC)</a:t>
            </a:r>
            <a:r>
              <a:rPr lang="en-IN" dirty="0">
                <a:latin typeface="Times New Roman" panose="02020603050405020304" pitchFamily="18" charset="0"/>
                <a:cs typeface="Times New Roman" panose="02020603050405020304" pitchFamily="18" charset="0"/>
              </a:rPr>
              <a:t> is a web-based application designed to securely manage student records. while preventing unauthorized access to sensitive information. The system assigns specific roles such as </a:t>
            </a:r>
            <a:r>
              <a:rPr lang="en-IN" b="1" dirty="0">
                <a:latin typeface="Times New Roman" panose="02020603050405020304" pitchFamily="18" charset="0"/>
                <a:cs typeface="Times New Roman" panose="02020603050405020304" pitchFamily="18" charset="0"/>
              </a:rPr>
              <a:t>Administrator, Faculty, and Student</a:t>
            </a:r>
            <a:r>
              <a:rPr lang="en-IN" dirty="0">
                <a:latin typeface="Times New Roman" panose="02020603050405020304" pitchFamily="18" charset="0"/>
                <a:cs typeface="Times New Roman" panose="02020603050405020304" pitchFamily="18" charset="0"/>
              </a:rPr>
              <a:t>, with each role having predefined permissions to access only the data required for its responsibilities. It incorporates secure user authentication, password encryption, and session management to protect user accounts and maintain data confidentiality. The application enables efficient management of student details, academic records, attendance, and results through a centralized database. By implementing RBAC, the system enhances security, ensures data integrity, and simplifies user management. This solution provides an efficient, reliable, and secure platform for educational institutions to manage student information while reducing the risks of data breaches and unauthorized modifications.</a:t>
            </a:r>
            <a:endParaRPr lang="en-IN" i="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375556" y="1582340"/>
            <a:ext cx="11440886" cy="4613058"/>
          </a:xfrm>
          <a:prstGeom prst="rect">
            <a:avLst/>
          </a:prstGeom>
          <a:noFill/>
        </p:spPr>
        <p:txBody>
          <a:bodyPr wrap="square">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Student information in educational institutions contains sensitive data that must be stored and managed securely.</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Traditional manual or unsecured systems are vulnerable to unauthorized access, data loss, and record manipulation.</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 Secure Student Information Management System provides a centralized platform to manage student records efficiently.</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Role-Based Access Control (RBAC) ensures that users such as administrators, faculty, and students can access only authorized information.</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system uses secure authentication, password encryption, and session management to protect user accounts and data.</a:t>
            </a:r>
          </a:p>
          <a:p>
            <a:pPr algn="just">
              <a:lnSpc>
                <a:spcPct val="150000"/>
              </a:lnSpc>
            </a:pPr>
            <a:endPar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2238786780"/>
              </p:ext>
            </p:extLst>
          </p:nvPr>
        </p:nvGraphicFramePr>
        <p:xfrm>
          <a:off x="231321" y="824140"/>
          <a:ext cx="11729357" cy="5225071"/>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Times New Roman" panose="02020603050405020304" pitchFamily="18" charset="0"/>
                          <a:cs typeface="Times New Roman" panose="020206030504050203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Times New Roman" panose="02020603050405020304" pitchFamily="18" charset="0"/>
                          <a:cs typeface="Times New Roman" panose="020206030504050203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Times New Roman" panose="02020603050405020304" pitchFamily="18" charset="0"/>
                          <a:cs typeface="Times New Roman" panose="020206030504050203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Times New Roman" panose="02020603050405020304" pitchFamily="18" charset="0"/>
                          <a:cs typeface="Times New Roman" panose="02020603050405020304" pitchFamily="18" charset="0"/>
                        </a:rPr>
                        <a:t>Sandhu, R., Coyne, E. J., Feinstein, H. L., &amp; Youman, C. E., 1996, IEEE Computer</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Role-Based Access Control Models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Introduced the RBAC model, defining roles, permissions, and role hierarchies for secure access control in information systems.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Times New Roman" panose="02020603050405020304" pitchFamily="18" charset="0"/>
                          <a:cs typeface="Times New Roman" panose="02020603050405020304" pitchFamily="18" charset="0"/>
                        </a:rPr>
                        <a:t>Ferraiolo, D. F., Sandhu, R., Gavrila, S., Kuhn, D. R., &amp; Chandramouli, R., 2001, ACM Transactions on Information and System Security (TISSEC)</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Proposed NIST Standard for Role-Based Access Control</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Established the NIST RBAC standard, improving authorization, user management, and security through standardized role-based permissions.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Times New Roman" panose="02020603050405020304" pitchFamily="18" charset="0"/>
                          <a:cs typeface="Times New Roman" panose="02020603050405020304" pitchFamily="18" charset="0"/>
                        </a:rPr>
                        <a:t>Joshi, J. B. D., Bertino, E., Latif, U., &amp; Ghafoor, A., 2005, IEEE Transactions on Knowledge and Data Engineering</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A Generalized Temporal Role-Based Access Control Model</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Extended RBAC by incorporating time-based constraints, enabling secure and flexible access control for enterprise applications.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Times New Roman" panose="02020603050405020304" pitchFamily="18" charset="0"/>
                          <a:cs typeface="Times New Roman" panose="02020603050405020304" pitchFamily="18" charset="0"/>
                        </a:rPr>
                        <a:t>Kuhn, D. R., Coyne, E. J., &amp; Weil, T. R., 2010, IEEE Computer</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Adding Attributes to Role-Based Access Control</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Discussed integrating attribute-based policies with RBAC to provide more dynamic and fine-grained access control.</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l" fontAlgn="ctr">
                        <a:buNone/>
                      </a:pPr>
                      <a:r>
                        <a:rPr lang="en-IN" sz="1600" dirty="0">
                          <a:latin typeface="Times New Roman" panose="02020603050405020304" pitchFamily="18" charset="0"/>
                          <a:cs typeface="Times New Roman" panose="02020603050405020304" pitchFamily="18" charset="0"/>
                        </a:rPr>
                        <a:t>Hu, V. C., Ferraiolo, D. F., Kuhn, D. R., et al., 2013, NIST Special Publication 800-162</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Guide to Attribute Based Access Control (ABAC) Definition and Considerations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Compared RBAC and ABAC, highlighting the advantages of secure authorization and policy-based access management.</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r h="708357">
                <a:tc>
                  <a:txBody>
                    <a:bodyPr/>
                    <a:lstStyle/>
                    <a:p>
                      <a:pPr algn="l" fontAlgn="ctr">
                        <a:buNone/>
                      </a:pPr>
                      <a:r>
                        <a:rPr lang="en-IN" sz="1600" dirty="0" err="1">
                          <a:latin typeface="Times New Roman" panose="02020603050405020304" pitchFamily="18" charset="0"/>
                          <a:cs typeface="Times New Roman" panose="02020603050405020304" pitchFamily="18" charset="0"/>
                        </a:rPr>
                        <a:t>Mouakket</a:t>
                      </a:r>
                      <a:r>
                        <a:rPr lang="en-IN" sz="1600" dirty="0">
                          <a:latin typeface="Times New Roman" panose="02020603050405020304" pitchFamily="18" charset="0"/>
                          <a:cs typeface="Times New Roman" panose="02020603050405020304" pitchFamily="18" charset="0"/>
                        </a:rPr>
                        <a:t>, S., 2021, International Journal of Information Management</a:t>
                      </a:r>
                      <a:endParaRPr lang="en-IN"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Information Security and Access Control in Higher Education Systems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Demonstrated that implementing secure authentication and role-based authorization significantly improves the protection of student information systems.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370945"/>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0ED51E-5CCE-AC76-9C4D-BF7794315E57}"/>
              </a:ext>
            </a:extLst>
          </p:cNvPr>
          <p:cNvSpPr txBox="1"/>
          <p:nvPr/>
        </p:nvSpPr>
        <p:spPr>
          <a:xfrm>
            <a:off x="4422502" y="456141"/>
            <a:ext cx="334699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Research Gaps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5F3B0975-318A-767B-09F3-7282DFEF2408}"/>
              </a:ext>
            </a:extLst>
          </p:cNvPr>
          <p:cNvSpPr txBox="1"/>
          <p:nvPr/>
        </p:nvSpPr>
        <p:spPr>
          <a:xfrm>
            <a:off x="375556" y="1839834"/>
            <a:ext cx="11440886" cy="3782061"/>
          </a:xfrm>
          <a:prstGeom prst="rect">
            <a:avLst/>
          </a:prstGeom>
          <a:noFill/>
        </p:spPr>
        <p:txBody>
          <a:bodyPr wrap="square">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Existing RBAC models mainly focus on access control principles but provide limited implementation for complete student information management systems.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Many studies emphasize authorization techniques without integrating features such as attendance, marks, and student profile management.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Traditional RBAC systems lack modern security mechanisms like secure password encryption, session management, and audit logging.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Previous research focuses on enterprise environments, with limited attention to the specific requirements of educational institutions. . </a:t>
            </a:r>
          </a:p>
          <a:p>
            <a:pPr algn="just">
              <a:lnSpc>
                <a:spcPct val="150000"/>
              </a:lnSpc>
            </a:pPr>
            <a:endParaRPr lang="en-US"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33063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178662" y="37486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052361" y="1951672"/>
            <a:ext cx="10087276" cy="2031325"/>
          </a:xfrm>
          <a:prstGeom prst="rect">
            <a:avLst/>
          </a:prstGeom>
          <a:noFill/>
        </p:spPr>
        <p:txBody>
          <a:bodyPr wrap="square">
            <a:spAutoFit/>
          </a:bodyPr>
          <a:lstStyle/>
          <a:p>
            <a:pPr marL="285750" lvl="0" indent="-285750">
              <a:lnSpc>
                <a:spcPct val="150000"/>
              </a:lnSpc>
              <a:buFont typeface="Wingdings" panose="05000000000000000000" pitchFamily="2" charset="2"/>
              <a:buChar char="Ø"/>
            </a:pPr>
            <a:r>
              <a:rPr lang="en-IN" dirty="0"/>
              <a:t>Existing student information management systems often lack fine-grained role-based access control, leading to unauthorized access and potential data breaches. </a:t>
            </a:r>
          </a:p>
          <a:p>
            <a:pPr marL="285750" lvl="0" indent="-285750">
              <a:lnSpc>
                <a:spcPct val="150000"/>
              </a:lnSpc>
              <a:buFont typeface="Wingdings" panose="05000000000000000000" pitchFamily="2" charset="2"/>
              <a:buChar char="Ø"/>
            </a:pPr>
            <a:r>
              <a:rPr lang="en-IN" dirty="0"/>
              <a:t>There is a need for a secure system that enforces role-specific permissions to protect sensitive student information while ensuring efficient and controlled access for administrators, faculty, and students.</a:t>
            </a:r>
          </a:p>
          <a:p>
            <a:pPr marL="285750" indent="-285750" algn="just">
              <a:buFont typeface="Arial" panose="020B0604020202020204" pitchFamily="34" charset="0"/>
              <a:buChar char="•"/>
            </a:pPr>
            <a:endParaRPr lang="en-US" sz="18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463040" y="1426756"/>
            <a:ext cx="10055192" cy="2031325"/>
          </a:xfrm>
          <a:prstGeom prst="rect">
            <a:avLst/>
          </a:prstGeom>
          <a:noFill/>
        </p:spPr>
        <p:txBody>
          <a:bodyPr wrap="square">
            <a:spAutoFit/>
          </a:bodyPr>
          <a:lstStyle/>
          <a:p>
            <a:pPr marL="285750" lvl="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develop a </a:t>
            </a:r>
            <a:r>
              <a:rPr lang="en-IN" b="1" dirty="0">
                <a:latin typeface="Times New Roman" panose="02020603050405020304" pitchFamily="18" charset="0"/>
                <a:cs typeface="Times New Roman" panose="02020603050405020304" pitchFamily="18" charset="0"/>
              </a:rPr>
              <a:t>secure student information management system</a:t>
            </a:r>
            <a:r>
              <a:rPr lang="en-IN" dirty="0">
                <a:latin typeface="Times New Roman" panose="02020603050405020304" pitchFamily="18" charset="0"/>
                <a:cs typeface="Times New Roman" panose="02020603050405020304" pitchFamily="18" charset="0"/>
              </a:rPr>
              <a:t> with </a:t>
            </a:r>
            <a:r>
              <a:rPr lang="en-IN" b="1" dirty="0">
                <a:latin typeface="Times New Roman" panose="02020603050405020304" pitchFamily="18" charset="0"/>
                <a:cs typeface="Times New Roman" panose="02020603050405020304" pitchFamily="18" charset="0"/>
              </a:rPr>
              <a:t>Role-Based Access Control (RBAC)</a:t>
            </a:r>
            <a:r>
              <a:rPr lang="en-IN" dirty="0">
                <a:latin typeface="Times New Roman" panose="02020603050405020304" pitchFamily="18" charset="0"/>
                <a:cs typeface="Times New Roman" panose="02020603050405020304" pitchFamily="18" charset="0"/>
              </a:rPr>
              <a:t> that authenticates users and restricts access based on their assigned roles. </a:t>
            </a:r>
          </a:p>
          <a:p>
            <a:pPr marL="285750" lvl="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enable </a:t>
            </a:r>
            <a:r>
              <a:rPr lang="en-IN" b="1" dirty="0">
                <a:latin typeface="Times New Roman" panose="02020603050405020304" pitchFamily="18" charset="0"/>
                <a:cs typeface="Times New Roman" panose="02020603050405020304" pitchFamily="18" charset="0"/>
              </a:rPr>
              <a:t>administrators, faculty, and students</a:t>
            </a:r>
            <a:r>
              <a:rPr lang="en-IN" dirty="0">
                <a:latin typeface="Times New Roman" panose="02020603050405020304" pitchFamily="18" charset="0"/>
                <a:cs typeface="Times New Roman" panose="02020603050405020304" pitchFamily="18" charset="0"/>
              </a:rPr>
              <a:t> to securely manage and access academic records through authentication, authorization, and a centralized database while ensuring data confidentiality and integrity.</a:t>
            </a:r>
          </a:p>
          <a:p>
            <a:pPr marL="285750" indent="-285750" algn="just">
              <a:buFont typeface="Wingdings" panose="05000000000000000000" pitchFamily="2" charset="2"/>
              <a:buChar char="Ø"/>
            </a:pPr>
            <a:endParaRPr lang="en-US" sz="18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EC36-CE28-D042-1828-CD7BBEC253A5}"/>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Module 1: User Authentication &amp; Role Management</a:t>
            </a:r>
          </a:p>
        </p:txBody>
      </p:sp>
      <p:sp>
        <p:nvSpPr>
          <p:cNvPr id="3" name="Content Placeholder 2">
            <a:extLst>
              <a:ext uri="{FF2B5EF4-FFF2-40B4-BE49-F238E27FC236}">
                <a16:creationId xmlns:a16="http://schemas.microsoft.com/office/drawing/2014/main" id="{B2E6E0A3-E707-0C79-DF93-0EF301FCA35A}"/>
              </a:ext>
            </a:extLst>
          </p:cNvPr>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User registration and secure login.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Password encryption and validation.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User profile management.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Role assignment for Admin, Faculty, and Student.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Secure logout and session management.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Password reset and account recovery.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29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0F45-1894-A4CC-38CF-1D35586DA8EF}"/>
              </a:ext>
            </a:extLst>
          </p:cNvPr>
          <p:cNvSpPr>
            <a:spLocks noGrp="1"/>
          </p:cNvSpPr>
          <p:nvPr>
            <p:ph type="title"/>
          </p:nvPr>
        </p:nvSpPr>
        <p:spPr/>
        <p:txBody>
          <a:bodyPr/>
          <a:lstStyle/>
          <a:p>
            <a:r>
              <a:rPr lang="fr-FR" dirty="0"/>
              <a:t>Module 2: Student Information Management</a:t>
            </a:r>
            <a:endParaRPr lang="en-IN" dirty="0"/>
          </a:p>
        </p:txBody>
      </p:sp>
      <p:sp>
        <p:nvSpPr>
          <p:cNvPr id="3" name="Content Placeholder 2">
            <a:extLst>
              <a:ext uri="{FF2B5EF4-FFF2-40B4-BE49-F238E27FC236}">
                <a16:creationId xmlns:a16="http://schemas.microsoft.com/office/drawing/2014/main" id="{035D22BD-6FDD-815B-6B34-4621270BA110}"/>
              </a:ext>
            </a:extLst>
          </p:cNvPr>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Add and update student details.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Manage academic and course information.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Maintain attendance records.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Store student information securely.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Manage student records and documents.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Generate student information reports.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6738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AB72-D567-4D04-88A9-A83CC0D16B39}"/>
              </a:ext>
            </a:extLst>
          </p:cNvPr>
          <p:cNvSpPr>
            <a:spLocks noGrp="1"/>
          </p:cNvSpPr>
          <p:nvPr>
            <p:ph type="title"/>
          </p:nvPr>
        </p:nvSpPr>
        <p:spPr>
          <a:xfrm>
            <a:off x="838199" y="365125"/>
            <a:ext cx="11176819" cy="1325563"/>
          </a:xfrm>
        </p:spPr>
        <p:txBody>
          <a:bodyPr/>
          <a:lstStyle/>
          <a:p>
            <a:r>
              <a:rPr lang="en-US" dirty="0">
                <a:latin typeface="Times New Roman" panose="02020603050405020304" pitchFamily="18" charset="0"/>
                <a:cs typeface="Times New Roman" panose="02020603050405020304" pitchFamily="18" charset="0"/>
              </a:rPr>
              <a:t>Module 3: Role-Based Access Control (RBAC)</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2AF058-F50E-D7CE-6FFE-E31AA0A27434}"/>
              </a:ext>
            </a:extLst>
          </p:cNvPr>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Define user roles and permissions.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Restrict access based on assigned roles.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Allow Admin to manage system resources.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Allow Faculty to access authorized student data.</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Allow Students to view permitted information.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Prevent unauthorized access to restricted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1635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BC496-E129-2F86-89D4-A62E680940B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 4: Audit Logs &amp; Security Monitoring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1116E6-B7D9-0F71-207F-EC5D9FA27A12}"/>
              </a:ext>
            </a:extLst>
          </p:cNvPr>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Record user login and logout activities.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Track data access and modifications.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Monitor unauthorized access attempts.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Maintain detailed audit logs.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Monitor suspicious user activities.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Generate security and activity reports.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5854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214E9F1-0E23-0E99-BEA8-BF66FF271068}"/>
              </a:ext>
            </a:extLst>
          </p:cNvPr>
          <p:cNvSpPr txBox="1"/>
          <p:nvPr/>
        </p:nvSpPr>
        <p:spPr>
          <a:xfrm>
            <a:off x="4016128" y="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0814651-F49B-5DFF-9DFB-773594F24110}"/>
              </a:ext>
            </a:extLst>
          </p:cNvPr>
          <p:cNvPicPr>
            <a:picLocks noChangeAspect="1"/>
          </p:cNvPicPr>
          <p:nvPr/>
        </p:nvPicPr>
        <p:blipFill>
          <a:blip r:embed="rId2">
            <a:extLst>
              <a:ext uri="{28A0092B-C50C-407E-A947-70E740481C1C}">
                <a14:useLocalDpi xmlns:a14="http://schemas.microsoft.com/office/drawing/2010/main" val="0"/>
              </a:ext>
            </a:extLst>
          </a:blip>
          <a:srcRect l="-1396" t="5802" r="1396" b="9271"/>
          <a:stretch>
            <a:fillRect/>
          </a:stretch>
        </p:blipFill>
        <p:spPr>
          <a:xfrm>
            <a:off x="235974" y="584775"/>
            <a:ext cx="11484078" cy="6120825"/>
          </a:xfrm>
          <a:prstGeom prst="rect">
            <a:avLst/>
          </a:prstGeom>
        </p:spPr>
      </p:pic>
    </p:spTree>
    <p:extLst>
      <p:ext uri="{BB962C8B-B14F-4D97-AF65-F5344CB8AC3E}">
        <p14:creationId xmlns:p14="http://schemas.microsoft.com/office/powerpoint/2010/main" val="4199753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8F9CD36-2ACA-3B73-BFC8-50478A78BD23}"/>
              </a:ext>
            </a:extLst>
          </p:cNvPr>
          <p:cNvSpPr txBox="1"/>
          <p:nvPr/>
        </p:nvSpPr>
        <p:spPr>
          <a:xfrm>
            <a:off x="522513" y="1784072"/>
            <a:ext cx="11364687" cy="4405309"/>
          </a:xfrm>
          <a:prstGeom prst="rect">
            <a:avLst/>
          </a:prstGeom>
          <a:noFill/>
        </p:spPr>
        <p:txBody>
          <a:bodyPr wrap="square">
            <a:spAutoFit/>
          </a:bodyPr>
          <a:lstStyle/>
          <a:p>
            <a:pPr marL="285750" lvl="0" indent="-285750">
              <a:lnSpc>
                <a:spcPct val="2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Simulates interactions between students, faculty, and administrators. </a:t>
            </a:r>
          </a:p>
          <a:p>
            <a:pPr marL="285750" lvl="0" indent="-285750">
              <a:lnSpc>
                <a:spcPct val="2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Generates data on login attempts and role-based access requests. </a:t>
            </a:r>
          </a:p>
          <a:p>
            <a:pPr marL="285750" lvl="0" indent="-285750">
              <a:lnSpc>
                <a:spcPct val="2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Measures system performance under different user loads. </a:t>
            </a:r>
          </a:p>
          <a:p>
            <a:pPr marL="285750" lvl="0" indent="-285750">
              <a:lnSpc>
                <a:spcPct val="3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Evaluates the effectiveness of Role-Based Access Control (RBAC). </a:t>
            </a:r>
          </a:p>
          <a:p>
            <a:pPr marL="285750" lvl="0" indent="-285750">
              <a:lnSpc>
                <a:spcPct val="3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Helps improve data security and overall system reliability.</a:t>
            </a:r>
          </a:p>
          <a:p>
            <a:pPr marL="285750" indent="-285750" algn="just">
              <a:lnSpc>
                <a:spcPct val="250000"/>
              </a:lnSpc>
              <a:buFont typeface="Wingdings" panose="05000000000000000000" pitchFamily="2" charset="2"/>
              <a:buChar char="Ø"/>
            </a:pP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3B2B53C-31C1-2547-AAB8-DACB58931886}"/>
              </a:ext>
            </a:extLst>
          </p:cNvPr>
          <p:cNvSpPr txBox="1"/>
          <p:nvPr/>
        </p:nvSpPr>
        <p:spPr>
          <a:xfrm>
            <a:off x="3811054" y="620055"/>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11290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B5F60F9-6495-2A3A-2138-5BF6443D6A10}"/>
              </a:ext>
            </a:extLst>
          </p:cNvPr>
          <p:cNvSpPr>
            <a:spLocks noChangeArrowheads="1"/>
          </p:cNvSpPr>
          <p:nvPr/>
        </p:nvSpPr>
        <p:spPr bwMode="auto">
          <a:xfrm>
            <a:off x="904569" y="1971177"/>
            <a:ext cx="10186220" cy="3697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Role-Based Access Control (RBAC) successfully restricted unauthorized access.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Authentication accuracy improved with secure login validation.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Unauthorized access attempts were detected and blocked.</a:t>
            </a:r>
          </a:p>
          <a:p>
            <a:pPr marL="342900" lvl="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Evolution plots show minimal fluctuations for all variables, confirming dataset reliability for deeper analysis.</a:t>
            </a:r>
          </a:p>
          <a:p>
            <a:pPr marL="342900" lvl="0" indent="-342900">
              <a:lnSpc>
                <a:spcPct val="200000"/>
              </a:lnSpc>
              <a:buFont typeface="Wingdings" panose="05000000000000000000" pitchFamily="2" charset="2"/>
              <a:buChar char="Ø"/>
            </a:pPr>
            <a:r>
              <a:rPr lang="en-IN" sz="2000" dirty="0"/>
              <a:t>Overall system security, reliability, and efficiency were improved</a:t>
            </a:r>
            <a:endParaRPr kumimoji="0" lang="en-US" altLang="en-US"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77C8A19-2DEA-EB5E-7651-2AB6EC3AE67D}"/>
              </a:ext>
            </a:extLst>
          </p:cNvPr>
          <p:cNvSpPr txBox="1"/>
          <p:nvPr/>
        </p:nvSpPr>
        <p:spPr>
          <a:xfrm>
            <a:off x="3641097" y="492119"/>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0405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C14A7F-5BEB-FE38-EF21-88C94E592B15}"/>
              </a:ext>
            </a:extLst>
          </p:cNvPr>
          <p:cNvSpPr>
            <a:spLocks noChangeArrowheads="1"/>
          </p:cNvSpPr>
          <p:nvPr/>
        </p:nvSpPr>
        <p:spPr bwMode="auto">
          <a:xfrm>
            <a:off x="459306" y="1580097"/>
            <a:ext cx="10624457" cy="3697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proposed Secure Student Information Management System effectively protects sensitive student data.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Role-Based Access Control (RBAC) ensures users access only authorized information.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Hybrid ABM-SD model helps evaluate system security and performance.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Unauthorized access is minimized through secure authentication and access control.</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proposed solution is scalable and suitable for educational institutions.</a:t>
            </a:r>
          </a:p>
        </p:txBody>
      </p:sp>
      <p:sp>
        <p:nvSpPr>
          <p:cNvPr id="5" name="TextBox 4">
            <a:extLst>
              <a:ext uri="{FF2B5EF4-FFF2-40B4-BE49-F238E27FC236}">
                <a16:creationId xmlns:a16="http://schemas.microsoft.com/office/drawing/2014/main" id="{1002ECE6-3E5B-77E0-F3FB-F88FAE3019CF}"/>
              </a:ext>
            </a:extLst>
          </p:cNvPr>
          <p:cNvSpPr txBox="1"/>
          <p:nvPr/>
        </p:nvSpPr>
        <p:spPr>
          <a:xfrm>
            <a:off x="3503444" y="469117"/>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Conclusion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5532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CB49A-7566-1752-A6C3-8828599304A3}"/>
              </a:ext>
            </a:extLst>
          </p:cNvPr>
          <p:cNvSpPr txBox="1"/>
          <p:nvPr/>
        </p:nvSpPr>
        <p:spPr>
          <a:xfrm>
            <a:off x="4206801" y="991344"/>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Future Scope</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E9155F7E-C5F7-2C55-257A-9BA6AAE4663B}"/>
              </a:ext>
            </a:extLst>
          </p:cNvPr>
          <p:cNvSpPr txBox="1"/>
          <p:nvPr/>
        </p:nvSpPr>
        <p:spPr>
          <a:xfrm>
            <a:off x="909483" y="1576119"/>
            <a:ext cx="9468464" cy="3076291"/>
          </a:xfrm>
          <a:prstGeom prst="rect">
            <a:avLst/>
          </a:prstGeom>
          <a:noFill/>
        </p:spPr>
        <p:txBody>
          <a:bodyPr wrap="square" rtlCol="0">
            <a:spAutoFit/>
          </a:bodyPr>
          <a:lstStyle/>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Integrate multi-factor authentication (MFA) for stronger security.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Use AI/ML to detect suspicious user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insider threats.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Support cloud-based deployment for better scalability and accessibility. </a:t>
            </a:r>
          </a:p>
          <a:p>
            <a:pPr marL="342900" lvl="0" indent="-342900">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Implement blockchain for secure and tamper-proof academic records.</a:t>
            </a:r>
          </a:p>
          <a:p>
            <a:pPr marL="342900" lvl="0" indent="-342900">
              <a:lnSpc>
                <a:spcPct val="200000"/>
              </a:lnSpc>
              <a:buFont typeface="Wingdings" panose="05000000000000000000" pitchFamily="2" charset="2"/>
              <a:buChar char="Ø"/>
            </a:pPr>
            <a:r>
              <a:rPr lang="en-IN" sz="2000" dirty="0"/>
              <a:t>Develop a mobile application for secure access to student information.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907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C2B2C8-3E95-6CDE-3A5A-E617D11CACDE}"/>
              </a:ext>
            </a:extLst>
          </p:cNvPr>
          <p:cNvSpPr txBox="1"/>
          <p:nvPr/>
        </p:nvSpPr>
        <p:spPr>
          <a:xfrm>
            <a:off x="4831805" y="283421"/>
            <a:ext cx="242243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References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BEA9B6D6-B99E-3115-1344-F90EFFEC498A}"/>
              </a:ext>
            </a:extLst>
          </p:cNvPr>
          <p:cNvSpPr txBox="1"/>
          <p:nvPr/>
        </p:nvSpPr>
        <p:spPr>
          <a:xfrm>
            <a:off x="294968" y="868196"/>
            <a:ext cx="10844981" cy="6154057"/>
          </a:xfrm>
          <a:prstGeom prst="rect">
            <a:avLst/>
          </a:prstGeom>
          <a:noFill/>
        </p:spPr>
        <p:txBody>
          <a:bodyPr wrap="square" rtlCol="0">
            <a:spAutoFit/>
          </a:bodyPr>
          <a:lstStyle/>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Computer Security: Principles and Practice, 5th ed., Pearson, 2023. </a:t>
            </a:r>
          </a:p>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Security Engineering: A Guide to Building Dependable Distributed Systems, 3rd ed., Wiley, 2020. </a:t>
            </a:r>
          </a:p>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Database System Concepts, 7th ed., McGraw-Hill, 2019. </a:t>
            </a:r>
          </a:p>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National Institute of Standards and Technology, </a:t>
            </a:r>
            <a:r>
              <a:rPr lang="en-IN" sz="2000" i="1" dirty="0">
                <a:latin typeface="Times New Roman" panose="02020603050405020304" pitchFamily="18" charset="0"/>
                <a:cs typeface="Times New Roman" panose="02020603050405020304" pitchFamily="18" charset="0"/>
              </a:rPr>
              <a:t>Digital Identity Guidelines (SP 800-63)</a:t>
            </a:r>
            <a:r>
              <a:rPr lang="en-IN" sz="2000" dirty="0">
                <a:latin typeface="Times New Roman" panose="02020603050405020304" pitchFamily="18" charset="0"/>
                <a:cs typeface="Times New Roman" panose="02020603050405020304" pitchFamily="18" charset="0"/>
              </a:rPr>
              <a:t>, 2023. </a:t>
            </a:r>
          </a:p>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OWASP Foundation, </a:t>
            </a:r>
            <a:r>
              <a:rPr lang="en-IN" sz="2000" i="1" dirty="0">
                <a:latin typeface="Times New Roman" panose="02020603050405020304" pitchFamily="18" charset="0"/>
                <a:cs typeface="Times New Roman" panose="02020603050405020304" pitchFamily="18" charset="0"/>
              </a:rPr>
              <a:t>OWASP Top 10: Web Application Security Risks</a:t>
            </a:r>
            <a:r>
              <a:rPr lang="en-IN" sz="2000" dirty="0">
                <a:latin typeface="Times New Roman" panose="02020603050405020304" pitchFamily="18" charset="0"/>
                <a:cs typeface="Times New Roman" panose="02020603050405020304" pitchFamily="18" charset="0"/>
              </a:rPr>
              <a:t>, 2021.</a:t>
            </a:r>
          </a:p>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Sandhu, R., Coyne, E. J., Feinstein, H. L., &amp; Youman, C. E. (1996). Role-Based Access Control Models. IEEE Computer.</a:t>
            </a:r>
          </a:p>
          <a:p>
            <a:pPr marL="342900" lvl="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Ferraiolo, D. F., Sandhu, R., Gavrila, S., Kuhn, D. R., &amp; Chandramouli, R. (2001). Proposed NIST Standard for Role-Based Access Control. ACM TISSEC.</a:t>
            </a:r>
          </a:p>
          <a:p>
            <a:pPr>
              <a:lnSpc>
                <a:spcPct val="20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48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1E22C8-2CF0-7AE6-09F4-2EFEF4F38ABC}"/>
              </a:ext>
            </a:extLst>
          </p:cNvPr>
          <p:cNvSpPr/>
          <p:nvPr/>
        </p:nvSpPr>
        <p:spPr>
          <a:xfrm>
            <a:off x="3113315" y="2505670"/>
            <a:ext cx="6466114" cy="923330"/>
          </a:xfrm>
          <a:prstGeom prst="rect">
            <a:avLst/>
          </a:prstGeom>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lIns="91440" tIns="45720" rIns="91440" bIns="45720">
            <a:spAutoFit/>
          </a:bodyPr>
          <a:lstStyle/>
          <a:p>
            <a:pPr algn="ctr"/>
            <a:r>
              <a:rPr lang="en-US" sz="5400" b="1" spc="50" dirty="0">
                <a:ln w="0">
                  <a:solidFill>
                    <a:schemeClr val="accent6">
                      <a:lumMod val="50000"/>
                    </a:schemeClr>
                  </a:solidFill>
                </a:ln>
                <a:solidFill>
                  <a:schemeClr val="accent6">
                    <a:lumMod val="40000"/>
                    <a:lumOff val="60000"/>
                  </a:schemeClr>
                </a:solidFill>
                <a:effectLst>
                  <a:innerShdw blurRad="63500" dist="50800" dir="13500000">
                    <a:srgbClr val="000000">
                      <a:alpha val="50000"/>
                    </a:srgbClr>
                  </a:innerShdw>
                  <a:reflection blurRad="6350" stA="55000" endA="300" endPos="45500" dir="5400000" sy="-100000" algn="bl" rotWithShape="0"/>
                </a:effectLst>
              </a:rPr>
              <a:t>The End</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TotalTime>
  <Words>1388</Words>
  <Application>Microsoft Office PowerPoint</Application>
  <PresentationFormat>Widescreen</PresentationFormat>
  <Paragraphs>121</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1: User Authentication &amp; Role Management</vt:lpstr>
      <vt:lpstr>Module 2: Student Information Management</vt:lpstr>
      <vt:lpstr>Module 3: Role-Based Access Control (RBAC)</vt:lpstr>
      <vt:lpstr>Module 4: Audit Logs &amp; Security Monitoring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gnanaraj</dc:creator>
  <cp:lastModifiedBy>lokesh kumar</cp:lastModifiedBy>
  <cp:revision>25</cp:revision>
  <dcterms:created xsi:type="dcterms:W3CDTF">2025-08-11T02:48:58Z</dcterms:created>
  <dcterms:modified xsi:type="dcterms:W3CDTF">2026-08-11T08:07:46Z</dcterms:modified>
</cp:coreProperties>
</file>